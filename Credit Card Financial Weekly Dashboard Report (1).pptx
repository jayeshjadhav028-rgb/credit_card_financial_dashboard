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247" y="781938"/>
            <a:ext cx="999553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947" y="1472012"/>
            <a:ext cx="7958455" cy="4070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06034" y="6464680"/>
            <a:ext cx="98044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3" y="1231391"/>
              <a:ext cx="9916668" cy="26502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4974" y="1546301"/>
            <a:ext cx="83927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dirty="0">
                <a:latin typeface="Arial"/>
                <a:cs typeface="Arial"/>
              </a:rPr>
              <a:t>CREDIT</a:t>
            </a:r>
            <a:r>
              <a:rPr sz="9600" b="1" spc="-390" dirty="0">
                <a:latin typeface="Arial"/>
                <a:cs typeface="Arial"/>
              </a:rPr>
              <a:t> </a:t>
            </a:r>
            <a:r>
              <a:rPr sz="9600" b="1" spc="-20" dirty="0">
                <a:latin typeface="Arial"/>
                <a:cs typeface="Arial"/>
              </a:rPr>
              <a:t>CARD</a:t>
            </a:r>
            <a:endParaRPr sz="9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719" y="3121151"/>
            <a:ext cx="11261090" cy="3235960"/>
            <a:chOff x="426719" y="3121151"/>
            <a:chExt cx="11261090" cy="32359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4288" y="4593335"/>
              <a:ext cx="1763268" cy="17632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19" y="3121151"/>
              <a:ext cx="3535679" cy="16047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19" y="3989831"/>
              <a:ext cx="5832348" cy="16047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70305" y="3331540"/>
            <a:ext cx="4907915" cy="176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spc="-790" dirty="0">
                <a:solidFill>
                  <a:srgbClr val="FFC000"/>
                </a:solidFill>
                <a:latin typeface="Arial MT"/>
                <a:cs typeface="Arial MT"/>
              </a:rPr>
              <a:t>WEEKLY</a:t>
            </a:r>
            <a:endParaRPr sz="5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700" spc="-805" dirty="0">
                <a:solidFill>
                  <a:srgbClr val="FFC000"/>
                </a:solidFill>
                <a:latin typeface="Arial MT"/>
                <a:cs typeface="Arial MT"/>
              </a:rPr>
              <a:t>STATUS</a:t>
            </a:r>
            <a:r>
              <a:rPr sz="5700" spc="-27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5700" spc="-745" dirty="0">
                <a:solidFill>
                  <a:srgbClr val="FFC000"/>
                </a:solidFill>
                <a:latin typeface="Arial MT"/>
                <a:cs typeface="Arial MT"/>
              </a:rPr>
              <a:t>REPORT</a:t>
            </a:r>
            <a:endParaRPr sz="5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947" y="465226"/>
            <a:ext cx="7979409" cy="4823460"/>
          </a:xfrm>
          <a:prstGeom prst="rect">
            <a:avLst/>
          </a:prstGeom>
        </p:spPr>
        <p:txBody>
          <a:bodyPr vert="horz" wrap="square" lIns="0" tIns="328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0"/>
              </a:spcBef>
            </a:pP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Content</a:t>
            </a:r>
            <a:r>
              <a:rPr sz="4000" spc="-50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in</a:t>
            </a:r>
            <a:r>
              <a:rPr sz="4000" spc="-45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this</a:t>
            </a:r>
            <a:r>
              <a:rPr sz="4000" spc="-45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tutorial</a:t>
            </a:r>
            <a:r>
              <a:rPr sz="4000" spc="-40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spc="-20" dirty="0">
                <a:solidFill>
                  <a:srgbClr val="FFC000"/>
                </a:solidFill>
                <a:latin typeface="Arial Black"/>
                <a:cs typeface="Arial Black"/>
              </a:rPr>
              <a:t>video</a:t>
            </a:r>
            <a:endParaRPr sz="4000">
              <a:latin typeface="Arial Black"/>
              <a:cs typeface="Arial Black"/>
            </a:endParaRPr>
          </a:p>
          <a:p>
            <a:pPr marL="777875" indent="-743585">
              <a:lnSpc>
                <a:spcPct val="100000"/>
              </a:lnSpc>
              <a:spcBef>
                <a:spcPts val="2485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4000" spc="-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400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400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40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400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4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DAX</a:t>
            </a:r>
            <a:endParaRPr sz="400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777875" algn="l"/>
              </a:tabLst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400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4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4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0688" y="2275332"/>
            <a:ext cx="4401311" cy="38160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947" y="781938"/>
            <a:ext cx="7202170" cy="4929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Project</a:t>
            </a:r>
            <a:r>
              <a:rPr sz="4000" spc="5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spc="-10" dirty="0">
                <a:solidFill>
                  <a:srgbClr val="FFC000"/>
                </a:solidFill>
                <a:latin typeface="Arial Black"/>
                <a:cs typeface="Arial Black"/>
              </a:rPr>
              <a:t>Objective</a:t>
            </a:r>
            <a:endParaRPr sz="4000" dirty="0">
              <a:latin typeface="Arial Black"/>
              <a:cs typeface="Arial Black"/>
            </a:endParaRPr>
          </a:p>
          <a:p>
            <a:pPr marL="12700" marR="5080">
              <a:lnSpc>
                <a:spcPct val="90000"/>
              </a:lnSpc>
              <a:spcBef>
                <a:spcPts val="3570"/>
              </a:spcBef>
            </a:pPr>
            <a:r>
              <a:rPr sz="4000" spc="-18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sz="4000" spc="-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comprehensive</a:t>
            </a:r>
            <a:r>
              <a:rPr sz="4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credit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40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weekly</a:t>
            </a:r>
            <a:r>
              <a:rPr sz="40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40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4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sz="4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4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trends,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enabling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stakeholders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4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monitor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4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4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4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operations effectively.</a:t>
            </a:r>
            <a:endParaRPr sz="40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53400" y="1548383"/>
            <a:ext cx="3773804" cy="4913630"/>
            <a:chOff x="8153400" y="1548383"/>
            <a:chExt cx="3773804" cy="4913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06939" y="1633727"/>
              <a:ext cx="1379220" cy="6553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1464" y="2147315"/>
              <a:ext cx="705612" cy="6964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2939" y="2080259"/>
              <a:ext cx="961644" cy="9555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400" y="2636519"/>
              <a:ext cx="3773424" cy="38252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85147" y="1548383"/>
              <a:ext cx="836676" cy="76047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Import</a:t>
            </a:r>
            <a:r>
              <a:rPr spc="-3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SQL</a:t>
            </a:r>
            <a:r>
              <a:rPr spc="-20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947" y="1637563"/>
            <a:ext cx="5506085" cy="205295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756285" indent="-743585">
              <a:lnSpc>
                <a:spcPct val="100000"/>
              </a:lnSpc>
              <a:spcBef>
                <a:spcPts val="615"/>
              </a:spcBef>
              <a:buAutoNum type="arabicPeriod"/>
              <a:tabLst>
                <a:tab pos="75628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Prepare</a:t>
            </a:r>
            <a:r>
              <a:rPr sz="40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400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40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75628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40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75628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import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4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4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2052" y="3268979"/>
            <a:ext cx="900683" cy="81838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390894" y="4258817"/>
            <a:ext cx="3529965" cy="1160145"/>
            <a:chOff x="6390894" y="4258817"/>
            <a:chExt cx="3529965" cy="11601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9944" y="4277867"/>
              <a:ext cx="3491484" cy="11216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419" y="4268342"/>
              <a:ext cx="3510915" cy="1141095"/>
            </a:xfrm>
            <a:custGeom>
              <a:avLst/>
              <a:gdLst/>
              <a:ahLst/>
              <a:cxnLst/>
              <a:rect l="l" t="t" r="r" b="b"/>
              <a:pathLst>
                <a:path w="3510915" h="1141095">
                  <a:moveTo>
                    <a:pt x="0" y="1140713"/>
                  </a:moveTo>
                  <a:lnTo>
                    <a:pt x="3510534" y="1140713"/>
                  </a:lnTo>
                  <a:lnTo>
                    <a:pt x="3510534" y="0"/>
                  </a:lnTo>
                  <a:lnTo>
                    <a:pt x="0" y="0"/>
                  </a:lnTo>
                  <a:lnTo>
                    <a:pt x="0" y="1140713"/>
                  </a:lnTo>
                  <a:close/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2200" y="4216908"/>
            <a:ext cx="899922" cy="75818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207752" y="1546860"/>
            <a:ext cx="1106805" cy="1619250"/>
            <a:chOff x="10207752" y="1546860"/>
            <a:chExt cx="1106805" cy="161925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07752" y="1546860"/>
              <a:ext cx="1106424" cy="11003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07624" y="2674620"/>
              <a:ext cx="180594" cy="3863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19232" y="2816352"/>
              <a:ext cx="227838" cy="34975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92384" y="2823972"/>
              <a:ext cx="290322" cy="342138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DAX</a:t>
            </a:r>
            <a:r>
              <a:rPr spc="-270" dirty="0"/>
              <a:t> </a:t>
            </a:r>
            <a:r>
              <a:rPr spc="-10" dirty="0"/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076" y="3473196"/>
            <a:ext cx="4344924" cy="25176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5947" y="1552062"/>
            <a:ext cx="7964805" cy="460565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AgeGroup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SWITCH(</a:t>
            </a:r>
            <a:endParaRPr sz="1600" dirty="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204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TRUE(),</a:t>
            </a:r>
            <a:endParaRPr sz="1600" dirty="0">
              <a:latin typeface="Calibri"/>
              <a:cs typeface="Calibri"/>
            </a:endParaRPr>
          </a:p>
          <a:p>
            <a:pPr marL="242570" algn="just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30,</a:t>
            </a:r>
            <a:r>
              <a:rPr sz="16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"20-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30",</a:t>
            </a:r>
            <a:endParaRPr sz="1600" dirty="0">
              <a:latin typeface="Calibri"/>
              <a:cs typeface="Calibri"/>
            </a:endParaRPr>
          </a:p>
          <a:p>
            <a:pPr marL="242570" marR="5080" algn="just">
              <a:lnSpc>
                <a:spcPct val="1104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40,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"30-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40",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50,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"40-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50",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60,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"50-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60",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60,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"60+",</a:t>
            </a:r>
            <a:endParaRPr sz="1600" dirty="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209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"unknown"</a:t>
            </a:r>
            <a:endParaRPr sz="1600" dirty="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190"/>
              </a:spcBef>
            </a:pP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600" dirty="0">
              <a:latin typeface="Calibri"/>
              <a:cs typeface="Calibri"/>
            </a:endParaRPr>
          </a:p>
          <a:p>
            <a:pPr marL="242570" marR="5881370" indent="-230504">
              <a:lnSpc>
                <a:spcPct val="11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IncomeGroup</a:t>
            </a:r>
            <a:r>
              <a:rPr sz="16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SWITCH( TRUE(),</a:t>
            </a:r>
            <a:endParaRPr sz="1600" dirty="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35000,</a:t>
            </a:r>
            <a:r>
              <a:rPr sz="16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"Low",</a:t>
            </a:r>
            <a:endParaRPr sz="1600" dirty="0">
              <a:latin typeface="Calibri"/>
              <a:cs typeface="Calibri"/>
            </a:endParaRPr>
          </a:p>
          <a:p>
            <a:pPr marL="242570" marR="651510">
              <a:lnSpc>
                <a:spcPct val="110000"/>
              </a:lnSpc>
              <a:spcBef>
                <a:spcPts val="1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35000</a:t>
            </a:r>
            <a:r>
              <a:rPr sz="16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&lt;70000,</a:t>
            </a:r>
            <a:r>
              <a:rPr sz="16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"Med",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70000,</a:t>
            </a:r>
            <a:r>
              <a:rPr sz="16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"High",</a:t>
            </a:r>
            <a:endParaRPr sz="1600" dirty="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204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"unknown"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DAX</a:t>
            </a:r>
            <a:r>
              <a:rPr spc="-270" dirty="0"/>
              <a:t> </a:t>
            </a:r>
            <a:r>
              <a:rPr spc="-10" dirty="0"/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076" y="3473196"/>
            <a:ext cx="4344924" cy="25176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5947" y="1715516"/>
            <a:ext cx="9453880" cy="389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week_num2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WEEKNUM('public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cc_detail'[week_start_date])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6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cc_detail'[annual_fees]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+ 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cc_detail'[total_trans_amt]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+ 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cc_detail'[interest_earned]</a:t>
            </a:r>
            <a:endParaRPr sz="1600">
              <a:latin typeface="Calibri"/>
              <a:cs typeface="Calibri"/>
            </a:endParaRPr>
          </a:p>
          <a:p>
            <a:pPr marL="196850" marR="6122670" indent="-184785">
              <a:lnSpc>
                <a:spcPct val="110700"/>
              </a:lnSpc>
              <a:spcBef>
                <a:spcPts val="190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Current_week_Reveneue</a:t>
            </a:r>
            <a:r>
              <a:rPr sz="16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CALCULATE(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SUM('public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cc_detail'[Revenue]), FILTER(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ALL('public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cc_detail'),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</a:t>
            </a:r>
            <a:r>
              <a:rPr sz="1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 MAX('public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cc_detail'[week_num2])))</a:t>
            </a:r>
            <a:endParaRPr sz="1600">
              <a:latin typeface="Calibri"/>
              <a:cs typeface="Calibri"/>
            </a:endParaRPr>
          </a:p>
          <a:p>
            <a:pPr marL="196850" marR="6037580" indent="-184785">
              <a:lnSpc>
                <a:spcPct val="110700"/>
              </a:lnSpc>
              <a:spcBef>
                <a:spcPts val="139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Previous_week_Reveneue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CALCULATE(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SUM('public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cc_detail'[Revenue]), FILTER(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ALL('public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cc_detail'),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</a:t>
            </a:r>
            <a:r>
              <a:rPr sz="16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 MAX('public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cc_detail'[week_num2])-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1))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700770" algn="l"/>
              </a:tabLst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Insights-</a:t>
            </a:r>
            <a:r>
              <a:rPr spc="-25" dirty="0"/>
              <a:t> </a:t>
            </a:r>
            <a:r>
              <a:rPr dirty="0"/>
              <a:t>Week</a:t>
            </a:r>
            <a:r>
              <a:rPr spc="-45" dirty="0"/>
              <a:t> </a:t>
            </a:r>
            <a:r>
              <a:rPr dirty="0"/>
              <a:t>53</a:t>
            </a:r>
            <a:r>
              <a:rPr spc="-40" dirty="0"/>
              <a:t> </a:t>
            </a:r>
            <a:r>
              <a:rPr spc="-10" dirty="0"/>
              <a:t>(31</a:t>
            </a:r>
            <a:r>
              <a:rPr sz="3975" spc="-15" baseline="25157" dirty="0"/>
              <a:t>st</a:t>
            </a:r>
            <a:r>
              <a:rPr sz="3975" baseline="25157" dirty="0"/>
              <a:t>	</a:t>
            </a:r>
            <a:r>
              <a:rPr sz="4000" spc="-20" dirty="0"/>
              <a:t>Dec)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8427719" y="2019300"/>
            <a:ext cx="3538854" cy="4409440"/>
            <a:chOff x="8427719" y="2019300"/>
            <a:chExt cx="3538854" cy="4409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8883" y="2019300"/>
              <a:ext cx="1789176" cy="850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7719" y="2840736"/>
              <a:ext cx="3538728" cy="35874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45947" y="1508433"/>
            <a:ext cx="10269220" cy="47480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WoW</a:t>
            </a:r>
            <a:r>
              <a:rPr sz="22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change:</a:t>
            </a:r>
            <a:endParaRPr sz="22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28.8%,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Count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xx%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xx%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count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xx%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r>
              <a:rPr sz="2200" b="1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Calibri"/>
                <a:cs typeface="Calibri"/>
              </a:rPr>
              <a:t>YTD:</a:t>
            </a:r>
            <a:endParaRPr sz="22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57M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interest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8M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46M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contributing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31M,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female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26M</a:t>
            </a:r>
            <a:endParaRPr sz="2000" dirty="0">
              <a:latin typeface="Calibri"/>
              <a:cs typeface="Calibri"/>
            </a:endParaRPr>
          </a:p>
          <a:p>
            <a:pPr marL="454659" marR="3836035" indent="-36004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454659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Blue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Silver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contributing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93%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overall transactions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TX,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contributing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68%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57.5%</a:t>
            </a:r>
            <a:endParaRPr sz="2000" dirty="0">
              <a:latin typeface="Calibri"/>
              <a:cs typeface="Calibri"/>
            </a:endParaRPr>
          </a:p>
          <a:p>
            <a:pPr marL="454025" indent="-359410">
              <a:lnSpc>
                <a:spcPts val="223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Delinquent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6.06%</a:t>
            </a:r>
            <a:endParaRPr lang="en-IN" sz="2000" spc="-1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509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Arial MT</vt:lpstr>
      <vt:lpstr>Calibri</vt:lpstr>
      <vt:lpstr>Office Theme</vt:lpstr>
      <vt:lpstr>CREDIT CARD</vt:lpstr>
      <vt:lpstr>PowerPoint Presentation</vt:lpstr>
      <vt:lpstr>PowerPoint Presentation</vt:lpstr>
      <vt:lpstr>Import data to SQL database</vt:lpstr>
      <vt:lpstr>DAX Queries</vt:lpstr>
      <vt:lpstr>DAX Queries</vt:lpstr>
      <vt:lpstr>Project Insights- Week 53 (31st Dec)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Analyst Roadmap</dc:title>
  <dc:creator>Rishabh Mishra</dc:creator>
  <cp:lastModifiedBy>Jayesh</cp:lastModifiedBy>
  <cp:revision>5</cp:revision>
  <dcterms:created xsi:type="dcterms:W3CDTF">2026-04-14T09:10:23Z</dcterms:created>
  <dcterms:modified xsi:type="dcterms:W3CDTF">2026-04-14T09:16:21Z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2026-04-14T00:00:00Z</vt:filetime>
  </property>
  <property fmtid="{D5CDD505-2E9C-101B-9397-08002B2CF9AE}" pid="5" name="Producer">
    <vt:lpwstr>Microsoft® PowerPoint® 2021</vt:lpwstr>
  </property>
</Properties>
</file>